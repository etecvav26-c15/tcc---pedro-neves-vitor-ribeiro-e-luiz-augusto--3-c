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ileron Bold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nva Sans Bold" panose="020B0604020202020204" charset="0"/>
      <p:regular r:id="rId14"/>
    </p:embeddedFont>
    <p:embeddedFont>
      <p:font typeface="Open Sans Bold" panose="020B0604020202020204" charset="0"/>
      <p:regular r:id="rId15"/>
    </p:embeddedFont>
    <p:embeddedFont>
      <p:font typeface="Aileron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4499604"/>
            <a:ext cx="18893125" cy="51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96"/>
              </a:lnSpc>
            </a:pPr>
            <a:r>
              <a:rPr lang="en-US" sz="23870" b="1" spc="-1623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Apresentação do TCC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312026"/>
            <a:chOff x="0" y="0"/>
            <a:chExt cx="4816593" cy="3455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345554"/>
            </a:xfrm>
            <a:custGeom>
              <a:avLst/>
              <a:gdLst/>
              <a:ahLst/>
              <a:cxnLst/>
              <a:rect l="l" t="t" r="r" b="b"/>
              <a:pathLst>
                <a:path w="4816592" h="345554">
                  <a:moveTo>
                    <a:pt x="0" y="0"/>
                  </a:moveTo>
                  <a:lnTo>
                    <a:pt x="4816592" y="0"/>
                  </a:lnTo>
                  <a:lnTo>
                    <a:pt x="4816592" y="345554"/>
                  </a:lnTo>
                  <a:lnTo>
                    <a:pt x="0" y="345554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383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7679" y="544375"/>
            <a:ext cx="3086100" cy="464881"/>
            <a:chOff x="0" y="0"/>
            <a:chExt cx="812800" cy="122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34513" y="570123"/>
            <a:ext cx="112305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Autores: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88763" y="570123"/>
            <a:ext cx="281096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Luiz Augusto Mantovani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5530" y="570123"/>
            <a:ext cx="251855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Pedro Neves Ovídio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89889" y="570123"/>
            <a:ext cx="260399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Vitor Nobrega Ribeiro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485840" y="570123"/>
            <a:ext cx="15469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15 Jun,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1173" y="570123"/>
            <a:ext cx="265911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1" spc="-41">
                <a:solidFill>
                  <a:srgbClr val="242424"/>
                </a:solidFill>
                <a:latin typeface="Aileron Bold"/>
                <a:ea typeface="Aileron Bold"/>
                <a:cs typeface="Aileron Bold"/>
                <a:sym typeface="Aileron Bold"/>
              </a:rPr>
              <a:t>Parcial do TCC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12026"/>
            <a:chOff x="0" y="0"/>
            <a:chExt cx="4816593" cy="3455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45554"/>
            </a:xfrm>
            <a:custGeom>
              <a:avLst/>
              <a:gdLst/>
              <a:ahLst/>
              <a:cxnLst/>
              <a:rect l="l" t="t" r="r" b="b"/>
              <a:pathLst>
                <a:path w="4816592" h="345554">
                  <a:moveTo>
                    <a:pt x="0" y="0"/>
                  </a:moveTo>
                  <a:lnTo>
                    <a:pt x="4816592" y="0"/>
                  </a:lnTo>
                  <a:lnTo>
                    <a:pt x="4816592" y="345554"/>
                  </a:lnTo>
                  <a:lnTo>
                    <a:pt x="0" y="345554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83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931367">
            <a:off x="8194048" y="7311428"/>
            <a:ext cx="19921836" cy="2446634"/>
            <a:chOff x="0" y="0"/>
            <a:chExt cx="5246903" cy="6443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46903" cy="644381"/>
            </a:xfrm>
            <a:custGeom>
              <a:avLst/>
              <a:gdLst/>
              <a:ahLst/>
              <a:cxnLst/>
              <a:rect l="l" t="t" r="r" b="b"/>
              <a:pathLst>
                <a:path w="5246903" h="644381">
                  <a:moveTo>
                    <a:pt x="0" y="0"/>
                  </a:moveTo>
                  <a:lnTo>
                    <a:pt x="5246903" y="0"/>
                  </a:lnTo>
                  <a:lnTo>
                    <a:pt x="5246903" y="644381"/>
                  </a:lnTo>
                  <a:lnTo>
                    <a:pt x="0" y="64438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46903" cy="682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931367">
            <a:off x="7150022" y="6236213"/>
            <a:ext cx="19921836" cy="2446634"/>
            <a:chOff x="0" y="0"/>
            <a:chExt cx="5246903" cy="6443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46903" cy="644381"/>
            </a:xfrm>
            <a:custGeom>
              <a:avLst/>
              <a:gdLst/>
              <a:ahLst/>
              <a:cxnLst/>
              <a:rect l="l" t="t" r="r" b="b"/>
              <a:pathLst>
                <a:path w="5246903" h="644381">
                  <a:moveTo>
                    <a:pt x="0" y="0"/>
                  </a:moveTo>
                  <a:lnTo>
                    <a:pt x="5246903" y="0"/>
                  </a:lnTo>
                  <a:lnTo>
                    <a:pt x="5246903" y="644381"/>
                  </a:lnTo>
                  <a:lnTo>
                    <a:pt x="0" y="64438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246903" cy="682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931367">
            <a:off x="5897980" y="4782796"/>
            <a:ext cx="19921836" cy="2446634"/>
            <a:chOff x="0" y="0"/>
            <a:chExt cx="5246903" cy="6443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46903" cy="644381"/>
            </a:xfrm>
            <a:custGeom>
              <a:avLst/>
              <a:gdLst/>
              <a:ahLst/>
              <a:cxnLst/>
              <a:rect l="l" t="t" r="r" b="b"/>
              <a:pathLst>
                <a:path w="5246903" h="644381">
                  <a:moveTo>
                    <a:pt x="0" y="0"/>
                  </a:moveTo>
                  <a:lnTo>
                    <a:pt x="5246903" y="0"/>
                  </a:lnTo>
                  <a:lnTo>
                    <a:pt x="5246903" y="644381"/>
                  </a:lnTo>
                  <a:lnTo>
                    <a:pt x="0" y="64438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246903" cy="682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662554" y="1708911"/>
            <a:ext cx="5863704" cy="8231328"/>
            <a:chOff x="0" y="0"/>
            <a:chExt cx="812800" cy="11409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140989"/>
            </a:xfrm>
            <a:custGeom>
              <a:avLst/>
              <a:gdLst/>
              <a:ahLst/>
              <a:cxnLst/>
              <a:rect l="l" t="t" r="r" b="b"/>
              <a:pathLst>
                <a:path w="812800" h="1140989">
                  <a:moveTo>
                    <a:pt x="0" y="0"/>
                  </a:moveTo>
                  <a:lnTo>
                    <a:pt x="812800" y="0"/>
                  </a:lnTo>
                  <a:lnTo>
                    <a:pt x="812800" y="1140989"/>
                  </a:lnTo>
                  <a:lnTo>
                    <a:pt x="0" y="1140989"/>
                  </a:lnTo>
                  <a:close/>
                </a:path>
              </a:pathLst>
            </a:custGeom>
            <a:blipFill>
              <a:blip r:embed="rId2"/>
              <a:stretch>
                <a:fillRect l="-55151" r="-5515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378191" y="3874181"/>
            <a:ext cx="11090145" cy="37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6"/>
              </a:lnSpc>
            </a:pPr>
            <a:r>
              <a:rPr lang="en-US" sz="2226" b="1" spc="-44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Um Sistema Escolar com Banco de Dados em Nuvem para Gerenciamento Acadêmico.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15330" y="587125"/>
            <a:ext cx="151885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Metodologia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65898" y="587125"/>
            <a:ext cx="211892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Desenvolvimento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485840" y="608388"/>
            <a:ext cx="15469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15 Jun, 2026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87369" y="542834"/>
            <a:ext cx="1927448" cy="490831"/>
            <a:chOff x="0" y="0"/>
            <a:chExt cx="507641" cy="1292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7641" cy="129272"/>
            </a:xfrm>
            <a:custGeom>
              <a:avLst/>
              <a:gdLst/>
              <a:ahLst/>
              <a:cxnLst/>
              <a:rect l="l" t="t" r="r" b="b"/>
              <a:pathLst>
                <a:path w="507641" h="129272">
                  <a:moveTo>
                    <a:pt x="0" y="0"/>
                  </a:moveTo>
                  <a:lnTo>
                    <a:pt x="507641" y="0"/>
                  </a:lnTo>
                  <a:lnTo>
                    <a:pt x="507641" y="129272"/>
                  </a:lnTo>
                  <a:lnTo>
                    <a:pt x="0" y="129272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07641" cy="16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 b="1">
                  <a:solidFill>
                    <a:srgbClr val="24242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Introdução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92246" y="2004502"/>
            <a:ext cx="8361313" cy="164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520"/>
              </a:lnSpc>
            </a:pPr>
            <a:r>
              <a:rPr lang="en-US" sz="14400" b="1" spc="-979" dirty="0" err="1" smtClean="0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Introdução</a:t>
            </a:r>
            <a:endParaRPr lang="en-US" sz="14400" b="1" spc="-979" dirty="0">
              <a:solidFill>
                <a:srgbClr val="EBEBEB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-73923" y="3361881"/>
            <a:ext cx="345003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Nosso</a:t>
            </a:r>
            <a:r>
              <a:rPr lang="en-US" sz="3232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232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tema</a:t>
            </a:r>
            <a:r>
              <a:rPr lang="en-US" sz="3232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8191" y="4604848"/>
            <a:ext cx="8765809" cy="495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360" spc="-4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Com o avanço da tecnologia, o uso de sistemas digitais em escolas se tornou essencial para melhorar a organização e o acesso às informações. Muitas instituições ainda utilizam métodos manuais ou sistemas limitados, o que dificulta o gerenciamento de dados. Além de não utilizarem APIs para um aplicativo Mobile e que seja funcional.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360" spc="-4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Diante disso, este projeto propõe o desenvolvimento de um sistema escolar integrado a um banco de dados em nuvem, permitindo maior eficiência, segurança e acessibilidade. Com criptografia em Rede, uma conexão mais segura que servidores locais, senha e login criptografados e interconexões entre Web e Mobile.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  <a:endParaRPr lang="en-US" sz="2360" spc="-47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704023">
            <a:off x="-8644784" y="7100360"/>
            <a:ext cx="19921836" cy="2446634"/>
            <a:chOff x="0" y="0"/>
            <a:chExt cx="5246903" cy="6443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6903" cy="644381"/>
            </a:xfrm>
            <a:custGeom>
              <a:avLst/>
              <a:gdLst/>
              <a:ahLst/>
              <a:cxnLst/>
              <a:rect l="l" t="t" r="r" b="b"/>
              <a:pathLst>
                <a:path w="5246903" h="644381">
                  <a:moveTo>
                    <a:pt x="0" y="0"/>
                  </a:moveTo>
                  <a:lnTo>
                    <a:pt x="5246903" y="0"/>
                  </a:lnTo>
                  <a:lnTo>
                    <a:pt x="5246903" y="644381"/>
                  </a:lnTo>
                  <a:lnTo>
                    <a:pt x="0" y="64438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46903" cy="682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704023">
            <a:off x="-7272365" y="5540320"/>
            <a:ext cx="19921836" cy="2446634"/>
            <a:chOff x="0" y="0"/>
            <a:chExt cx="5246903" cy="6443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46903" cy="644381"/>
            </a:xfrm>
            <a:custGeom>
              <a:avLst/>
              <a:gdLst/>
              <a:ahLst/>
              <a:cxnLst/>
              <a:rect l="l" t="t" r="r" b="b"/>
              <a:pathLst>
                <a:path w="5246903" h="644381">
                  <a:moveTo>
                    <a:pt x="0" y="0"/>
                  </a:moveTo>
                  <a:lnTo>
                    <a:pt x="5246903" y="0"/>
                  </a:lnTo>
                  <a:lnTo>
                    <a:pt x="5246903" y="644381"/>
                  </a:lnTo>
                  <a:lnTo>
                    <a:pt x="0" y="64438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46903" cy="682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7704023">
            <a:off x="-5824674" y="4239302"/>
            <a:ext cx="19921836" cy="2446634"/>
            <a:chOff x="0" y="0"/>
            <a:chExt cx="5246903" cy="6443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46903" cy="644381"/>
            </a:xfrm>
            <a:custGeom>
              <a:avLst/>
              <a:gdLst/>
              <a:ahLst/>
              <a:cxnLst/>
              <a:rect l="l" t="t" r="r" b="b"/>
              <a:pathLst>
                <a:path w="5246903" h="644381">
                  <a:moveTo>
                    <a:pt x="0" y="0"/>
                  </a:moveTo>
                  <a:lnTo>
                    <a:pt x="5246903" y="0"/>
                  </a:lnTo>
                  <a:lnTo>
                    <a:pt x="5246903" y="644381"/>
                  </a:lnTo>
                  <a:lnTo>
                    <a:pt x="0" y="64438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246903" cy="682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251125"/>
            <a:ext cx="18288000" cy="4353743"/>
            <a:chOff x="0" y="0"/>
            <a:chExt cx="24384000" cy="580499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rcRect t="18257" b="18257"/>
            <a:stretch>
              <a:fillRect/>
            </a:stretch>
          </p:blipFill>
          <p:spPr>
            <a:xfrm>
              <a:off x="0" y="0"/>
              <a:ext cx="24384000" cy="5804991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0" y="0"/>
            <a:ext cx="18288000" cy="1231561"/>
            <a:chOff x="0" y="0"/>
            <a:chExt cx="4816593" cy="3243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6592" cy="324362"/>
            </a:xfrm>
            <a:custGeom>
              <a:avLst/>
              <a:gdLst/>
              <a:ahLst/>
              <a:cxnLst/>
              <a:rect l="l" t="t" r="r" b="b"/>
              <a:pathLst>
                <a:path w="4816592" h="324362">
                  <a:moveTo>
                    <a:pt x="0" y="0"/>
                  </a:moveTo>
                  <a:lnTo>
                    <a:pt x="4816592" y="0"/>
                  </a:lnTo>
                  <a:lnTo>
                    <a:pt x="4816592" y="324362"/>
                  </a:lnTo>
                  <a:lnTo>
                    <a:pt x="0" y="32436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16593" cy="362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007225" y="347419"/>
            <a:ext cx="2629945" cy="536723"/>
            <a:chOff x="0" y="0"/>
            <a:chExt cx="692661" cy="1413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2661" cy="141359"/>
            </a:xfrm>
            <a:custGeom>
              <a:avLst/>
              <a:gdLst/>
              <a:ahLst/>
              <a:cxnLst/>
              <a:rect l="l" t="t" r="r" b="b"/>
              <a:pathLst>
                <a:path w="692661" h="141359">
                  <a:moveTo>
                    <a:pt x="0" y="0"/>
                  </a:moveTo>
                  <a:lnTo>
                    <a:pt x="692661" y="0"/>
                  </a:lnTo>
                  <a:lnTo>
                    <a:pt x="692661" y="141359"/>
                  </a:lnTo>
                  <a:lnTo>
                    <a:pt x="0" y="141359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92661" cy="179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-1895340" y="4090831"/>
            <a:ext cx="5484969" cy="1923801"/>
          </a:xfrm>
          <a:custGeom>
            <a:avLst/>
            <a:gdLst/>
            <a:ahLst/>
            <a:cxnLst/>
            <a:rect l="l" t="t" r="r" b="b"/>
            <a:pathLst>
              <a:path w="5484969" h="1923801">
                <a:moveTo>
                  <a:pt x="0" y="0"/>
                </a:moveTo>
                <a:lnTo>
                  <a:pt x="5484969" y="0"/>
                </a:lnTo>
                <a:lnTo>
                  <a:pt x="5484969" y="1923801"/>
                </a:lnTo>
                <a:lnTo>
                  <a:pt x="0" y="19238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26992" y="392430"/>
            <a:ext cx="1123057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Intro</a:t>
            </a:r>
          </a:p>
          <a:p>
            <a:pPr algn="ctr">
              <a:lnSpc>
                <a:spcPts val="2939"/>
              </a:lnSpc>
            </a:pPr>
            <a:endParaRPr lang="en-US" sz="2099" spc="-41">
              <a:solidFill>
                <a:srgbClr val="EBEBE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789059" y="3085580"/>
            <a:ext cx="10302275" cy="316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4"/>
              </a:lnSpc>
            </a:pPr>
            <a:r>
              <a:rPr lang="en-US" sz="1996" spc="-39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O projeto será desenvolvido por meio de pesquisa bibliográfica e prática. Inicialmente, serão estudadas tecnologias relacionadas a bancos de dados em nuvem, desenvolvimento web, aplicativos mobiles e sistemas de segurança de dados.</a:t>
            </a:r>
          </a:p>
          <a:p>
            <a:pPr algn="just">
              <a:lnSpc>
                <a:spcPts val="2794"/>
              </a:lnSpc>
            </a:pPr>
            <a:r>
              <a:rPr lang="en-US" sz="1996" spc="-39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Em seguida, será utilizado o phpMyAdmin como banco de dados pela facilidade e boa criptografia de dados.</a:t>
            </a:r>
          </a:p>
          <a:p>
            <a:pPr algn="just">
              <a:lnSpc>
                <a:spcPts val="2794"/>
              </a:lnSpc>
            </a:pPr>
            <a:r>
              <a:rPr lang="en-US" sz="1996" spc="-39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O sistema será desenvolvido utilizando linguagens de programação como PHP, Python, JavaScript e Java com integração ao banco de dados.</a:t>
            </a:r>
          </a:p>
          <a:p>
            <a:pPr algn="just">
              <a:lnSpc>
                <a:spcPts val="2794"/>
              </a:lnSpc>
            </a:pPr>
            <a:r>
              <a:rPr lang="en-US" sz="1996" spc="-39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Serão realizados testes para garantir o funcionamento correto do sistema.</a:t>
            </a:r>
          </a:p>
          <a:p>
            <a:pPr algn="just">
              <a:lnSpc>
                <a:spcPts val="2794"/>
              </a:lnSpc>
            </a:pPr>
            <a:endParaRPr lang="en-US" sz="1996" spc="-39">
              <a:solidFill>
                <a:srgbClr val="EBEBE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508150" y="392430"/>
            <a:ext cx="162809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1" spc="-41">
                <a:solidFill>
                  <a:srgbClr val="242424"/>
                </a:solidFill>
                <a:latin typeface="Aileron Bold"/>
                <a:ea typeface="Aileron Bold"/>
                <a:cs typeface="Aileron Bold"/>
                <a:sym typeface="Aileron Bold"/>
              </a:rPr>
              <a:t>Metodologia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94345" y="392430"/>
            <a:ext cx="205650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Desenvolvimento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85840" y="401955"/>
            <a:ext cx="154692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15 Jun, 2026</a:t>
            </a:r>
          </a:p>
          <a:p>
            <a:pPr algn="ctr">
              <a:lnSpc>
                <a:spcPts val="2520"/>
              </a:lnSpc>
            </a:pPr>
            <a:endParaRPr lang="en-US" sz="1800" spc="-36">
              <a:solidFill>
                <a:srgbClr val="EBEBE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42477" y="1669711"/>
            <a:ext cx="9309403" cy="253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91"/>
              </a:lnSpc>
            </a:pPr>
            <a:r>
              <a:rPr lang="en-US" sz="11739" b="1" spc="-798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Metodologia  e Cosntrução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6550"/>
            <a:ext cx="18288000" cy="1285035"/>
            <a:chOff x="0" y="0"/>
            <a:chExt cx="4816593" cy="338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8445"/>
            </a:xfrm>
            <a:custGeom>
              <a:avLst/>
              <a:gdLst/>
              <a:ahLst/>
              <a:cxnLst/>
              <a:rect l="l" t="t" r="r" b="b"/>
              <a:pathLst>
                <a:path w="4816592" h="338445">
                  <a:moveTo>
                    <a:pt x="0" y="0"/>
                  </a:moveTo>
                  <a:lnTo>
                    <a:pt x="4816592" y="0"/>
                  </a:lnTo>
                  <a:lnTo>
                    <a:pt x="4816592" y="338445"/>
                  </a:lnTo>
                  <a:lnTo>
                    <a:pt x="0" y="33844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76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054135" y="390252"/>
            <a:ext cx="2466303" cy="464881"/>
            <a:chOff x="0" y="0"/>
            <a:chExt cx="649561" cy="122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9561" cy="122438"/>
            </a:xfrm>
            <a:custGeom>
              <a:avLst/>
              <a:gdLst/>
              <a:ahLst/>
              <a:cxnLst/>
              <a:rect l="l" t="t" r="r" b="b"/>
              <a:pathLst>
                <a:path w="649561" h="122438">
                  <a:moveTo>
                    <a:pt x="0" y="0"/>
                  </a:moveTo>
                  <a:lnTo>
                    <a:pt x="649561" y="0"/>
                  </a:lnTo>
                  <a:lnTo>
                    <a:pt x="649561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9561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248485"/>
            <a:ext cx="9995297" cy="3125018"/>
            <a:chOff x="0" y="0"/>
            <a:chExt cx="13327062" cy="416669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t="26588" b="26588"/>
            <a:stretch>
              <a:fillRect/>
            </a:stretch>
          </p:blipFill>
          <p:spPr>
            <a:xfrm>
              <a:off x="0" y="0"/>
              <a:ext cx="13327062" cy="4166691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0277485" y="1248485"/>
            <a:ext cx="6981815" cy="3125018"/>
            <a:chOff x="0" y="0"/>
            <a:chExt cx="9309086" cy="4166691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/>
            <a:srcRect t="7372" b="7372"/>
            <a:stretch>
              <a:fillRect/>
            </a:stretch>
          </p:blipFill>
          <p:spPr>
            <a:xfrm>
              <a:off x="0" y="0"/>
              <a:ext cx="9309086" cy="4166691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467171" y="416000"/>
            <a:ext cx="112305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Intro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7171" y="7321148"/>
            <a:ext cx="6653949" cy="2414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285" spc="-45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Atualmente, o projeto do Sistema Escolar com Banco de Dados em Nuvem encontra-se em fase avançada de desenvolvimento. Grande parte das funcionalidades principais já foi implementada, incluindo o cadastro de alunos, professores, turmas, sistema de notas e controle acadêmico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1745" y="5451157"/>
            <a:ext cx="10000090" cy="428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9"/>
              </a:lnSpc>
            </a:pPr>
            <a:r>
              <a:rPr lang="en-US" sz="2235" spc="-44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A estrutura do banco de dados já foi organizada e conectada ao sistema, permitindo o armazenamento seguro das informações acadêmicas na nuvem. Também foram aplicadas técnicas de segurança, como criptografia de senhas e utilização de hash para proteção de login e dados dos usuários. Além disso, foram implementados mecanismos de controle de acesso, garantindo que cada usuário tenha permissão apenas para visualizar e modificar as informações relacionadas ao seu perfil.          O sistema também conta com rotinas de validação de dados, reduzindo inconsistências e aumentando a integridade das informações armazenadas. Essas medidas contribuem para a confiabilidade, disponibilidade e proteção dos dados, assegurando um ambiente mais seguro e eficiente para a gestão acadêmica.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4825" y="6720804"/>
            <a:ext cx="5229894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 b="1" spc="-53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Como está nosso projeto?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1745" y="4840228"/>
            <a:ext cx="6721237" cy="45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2698" b="1" spc="-53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O Banco de Dados e a Segurança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47469" y="416000"/>
            <a:ext cx="161875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Metodologia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7649" y="416000"/>
            <a:ext cx="21992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strike="noStrike" spc="-41">
                <a:solidFill>
                  <a:srgbClr val="242424"/>
                </a:solidFill>
                <a:latin typeface="Aileron Bold"/>
                <a:ea typeface="Aileron Bold"/>
                <a:cs typeface="Aileron Bold"/>
                <a:sym typeface="Aileron Bold"/>
              </a:rPr>
              <a:t>Desenvolvimento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102503" y="416000"/>
            <a:ext cx="15469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15 Jun, 2026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7166" y="4773189"/>
            <a:ext cx="6863954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671"/>
              </a:lnSpc>
            </a:pPr>
            <a:r>
              <a:rPr lang="en-US" sz="7089" b="1" spc="-482" dirty="0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Como </a:t>
            </a:r>
            <a:r>
              <a:rPr lang="en-US" sz="7089" b="1" spc="-482" dirty="0" err="1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anda</a:t>
            </a:r>
            <a:r>
              <a:rPr lang="en-US" sz="7089" b="1" spc="-482" dirty="0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 o</a:t>
            </a:r>
          </a:p>
          <a:p>
            <a:pPr algn="just">
              <a:lnSpc>
                <a:spcPts val="5671"/>
              </a:lnSpc>
            </a:pPr>
            <a:r>
              <a:rPr lang="en-US" sz="7089" b="1" spc="-482" dirty="0" err="1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Desenvolvimento</a:t>
            </a:r>
            <a:endParaRPr lang="en-US" sz="7089" b="1" spc="-482" dirty="0">
              <a:solidFill>
                <a:srgbClr val="EBEBEB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611726">
            <a:off x="7865747" y="-893447"/>
            <a:ext cx="16031178" cy="8896493"/>
            <a:chOff x="0" y="0"/>
            <a:chExt cx="21374904" cy="1186199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8352" b="8352"/>
            <a:stretch>
              <a:fillRect/>
            </a:stretch>
          </p:blipFill>
          <p:spPr>
            <a:xfrm>
              <a:off x="0" y="0"/>
              <a:ext cx="21374904" cy="11861991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-36550"/>
            <a:ext cx="18288000" cy="1285035"/>
            <a:chOff x="0" y="0"/>
            <a:chExt cx="4816593" cy="3384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338445"/>
            </a:xfrm>
            <a:custGeom>
              <a:avLst/>
              <a:gdLst/>
              <a:ahLst/>
              <a:cxnLst/>
              <a:rect l="l" t="t" r="r" b="b"/>
              <a:pathLst>
                <a:path w="4816592" h="338445">
                  <a:moveTo>
                    <a:pt x="0" y="0"/>
                  </a:moveTo>
                  <a:lnTo>
                    <a:pt x="4816592" y="0"/>
                  </a:lnTo>
                  <a:lnTo>
                    <a:pt x="4816592" y="338445"/>
                  </a:lnTo>
                  <a:lnTo>
                    <a:pt x="0" y="33844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376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54135" y="390252"/>
            <a:ext cx="2466303" cy="464881"/>
            <a:chOff x="0" y="0"/>
            <a:chExt cx="649561" cy="122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9561" cy="122438"/>
            </a:xfrm>
            <a:custGeom>
              <a:avLst/>
              <a:gdLst/>
              <a:ahLst/>
              <a:cxnLst/>
              <a:rect l="l" t="t" r="r" b="b"/>
              <a:pathLst>
                <a:path w="649561" h="122438">
                  <a:moveTo>
                    <a:pt x="0" y="0"/>
                  </a:moveTo>
                  <a:lnTo>
                    <a:pt x="649561" y="0"/>
                  </a:lnTo>
                  <a:lnTo>
                    <a:pt x="649561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9561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6801" y="1870135"/>
            <a:ext cx="7919974" cy="168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25"/>
              </a:lnSpc>
            </a:pPr>
            <a:r>
              <a:rPr lang="en-US" sz="7781" b="1" spc="-529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Como anda o</a:t>
            </a:r>
          </a:p>
          <a:p>
            <a:pPr algn="just">
              <a:lnSpc>
                <a:spcPts val="6225"/>
              </a:lnSpc>
            </a:pPr>
            <a:r>
              <a:rPr lang="en-US" sz="7781" b="1" spc="-529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Desenvolvimento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7171" y="3840550"/>
            <a:ext cx="5229894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 b="1" spc="-53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A Interface do Sistema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171" y="4581595"/>
            <a:ext cx="10047389" cy="5461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237" spc="-44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A interface do sistema escolar já está praticamente concluída, apresentando um ambiente moderno, organizado e de fácil utilização. O sistema possui um layout intuitivo que facilita o acesso às funcionalidades principais, permitindo que alunos, professores e administradores utilizem a plataforma de maneira prática e eficiente.</a:t>
            </a:r>
          </a:p>
          <a:p>
            <a:pPr algn="l">
              <a:lnSpc>
                <a:spcPts val="3132"/>
              </a:lnSpc>
            </a:pPr>
            <a:endParaRPr lang="en-US" sz="2237" spc="-44">
              <a:solidFill>
                <a:srgbClr val="EBEBEB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132"/>
              </a:lnSpc>
            </a:pPr>
            <a:r>
              <a:rPr lang="en-US" sz="2237" spc="-44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Durante o desenvolvimento da interface, foram adotados princípios de usabilidade e experiência do usuário (UX), buscando tornar a navegação simples, clara e acessível para diferentes perfis de usuários. Os elementos visuais foram distribuídos de forma estratégica, com menus bem estruturados, ícones de fácil compreensão e páginas organizadas para reduzir a complexidade na execução das tarefas diárias. Além disso, foi utilizada uma identidade visual padronizada, proporcionando maior consistência entre as telas e fortalecendo a percepção de profissionalismo do sistema.</a:t>
            </a:r>
          </a:p>
          <a:p>
            <a:pPr algn="l">
              <a:lnSpc>
                <a:spcPts val="3132"/>
              </a:lnSpc>
            </a:pPr>
            <a:endParaRPr lang="en-US" sz="2237" spc="-44">
              <a:solidFill>
                <a:srgbClr val="EBEBE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7171" y="416000"/>
            <a:ext cx="112305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Intro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7469" y="416000"/>
            <a:ext cx="161875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Metodologia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87649" y="416000"/>
            <a:ext cx="21992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strike="noStrike" spc="-41">
                <a:solidFill>
                  <a:srgbClr val="242424"/>
                </a:solidFill>
                <a:latin typeface="Aileron Bold"/>
                <a:ea typeface="Aileron Bold"/>
                <a:cs typeface="Aileron Bold"/>
                <a:sym typeface="Aileron Bold"/>
              </a:rPr>
              <a:t>Desenvolvimento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02503" y="416000"/>
            <a:ext cx="15469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15 Jun,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8525" y="4215559"/>
            <a:ext cx="7586789" cy="49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95"/>
              </a:lnSpc>
            </a:pPr>
            <a:r>
              <a:rPr lang="en-US" sz="2925" b="1" spc="-58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O que o projeto necessita no momento 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58525" y="5086350"/>
            <a:ext cx="9457524" cy="459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3"/>
              </a:lnSpc>
            </a:pPr>
            <a:r>
              <a:rPr lang="en-US" sz="2595" spc="-5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Neste momento, o projeto necessita apenas de algumas revisões finais, correções de pequenos detalhes e testes de desempenho e segurança para garantir o funcionamento correto em diferentes dispositivos e conexões de internet. Também estão sendo realizados ajustes para melhorar a estabilidade, a velocidade de acesso ao banco de dados e a experiência do usuário.</a:t>
            </a:r>
          </a:p>
          <a:p>
            <a:pPr algn="just">
              <a:lnSpc>
                <a:spcPts val="3633"/>
              </a:lnSpc>
            </a:pPr>
            <a:r>
              <a:rPr lang="en-US" sz="2595" spc="-5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Com isso, o sistema encontra-se próximo de sua versão final, demonstrando resultados positivos e atendendo aos objetivos propostos inicialmente pela pesquisa.</a:t>
            </a:r>
          </a:p>
          <a:p>
            <a:pPr algn="just">
              <a:lnSpc>
                <a:spcPts val="3633"/>
              </a:lnSpc>
            </a:pPr>
            <a:endParaRPr lang="en-US" sz="2595" spc="-51">
              <a:solidFill>
                <a:srgbClr val="EBEBE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635173" y="622692"/>
            <a:ext cx="8076958" cy="8814079"/>
            <a:chOff x="0" y="0"/>
            <a:chExt cx="10769277" cy="1175210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l="19454" r="19454"/>
            <a:stretch>
              <a:fillRect/>
            </a:stretch>
          </p:blipFill>
          <p:spPr>
            <a:xfrm>
              <a:off x="0" y="0"/>
              <a:ext cx="10769277" cy="11752105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316801" y="1974910"/>
            <a:ext cx="10546740" cy="223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90"/>
              </a:lnSpc>
            </a:pPr>
            <a:r>
              <a:rPr lang="en-US" sz="10362" b="1" spc="-704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Como anda o</a:t>
            </a:r>
          </a:p>
          <a:p>
            <a:pPr algn="just">
              <a:lnSpc>
                <a:spcPts val="8290"/>
              </a:lnSpc>
            </a:pPr>
            <a:r>
              <a:rPr lang="en-US" sz="10362" b="1" spc="-704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Desenvolvimento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36550"/>
            <a:ext cx="18288000" cy="1285035"/>
            <a:chOff x="0" y="0"/>
            <a:chExt cx="4816593" cy="338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38445"/>
            </a:xfrm>
            <a:custGeom>
              <a:avLst/>
              <a:gdLst/>
              <a:ahLst/>
              <a:cxnLst/>
              <a:rect l="l" t="t" r="r" b="b"/>
              <a:pathLst>
                <a:path w="4816592" h="338445">
                  <a:moveTo>
                    <a:pt x="0" y="0"/>
                  </a:moveTo>
                  <a:lnTo>
                    <a:pt x="4816592" y="0"/>
                  </a:lnTo>
                  <a:lnTo>
                    <a:pt x="4816592" y="338445"/>
                  </a:lnTo>
                  <a:lnTo>
                    <a:pt x="0" y="33844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376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054135" y="390252"/>
            <a:ext cx="2466303" cy="464881"/>
            <a:chOff x="0" y="0"/>
            <a:chExt cx="649561" cy="1224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9561" cy="122438"/>
            </a:xfrm>
            <a:custGeom>
              <a:avLst/>
              <a:gdLst/>
              <a:ahLst/>
              <a:cxnLst/>
              <a:rect l="l" t="t" r="r" b="b"/>
              <a:pathLst>
                <a:path w="649561" h="122438">
                  <a:moveTo>
                    <a:pt x="0" y="0"/>
                  </a:moveTo>
                  <a:lnTo>
                    <a:pt x="649561" y="0"/>
                  </a:lnTo>
                  <a:lnTo>
                    <a:pt x="649561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9561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187649" y="416000"/>
            <a:ext cx="21992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strike="noStrike" spc="-41">
                <a:solidFill>
                  <a:srgbClr val="242424"/>
                </a:solidFill>
                <a:latin typeface="Aileron Bold"/>
                <a:ea typeface="Aileron Bold"/>
                <a:cs typeface="Aileron Bold"/>
                <a:sym typeface="Aileron Bold"/>
              </a:rPr>
              <a:t>Desenvolvimento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7171" y="416000"/>
            <a:ext cx="112305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Intro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47469" y="416000"/>
            <a:ext cx="161875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Metodologia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02503" y="416000"/>
            <a:ext cx="15469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15 Jun,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1667" y="3872229"/>
            <a:ext cx="17924667" cy="538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10400" b="1" spc="-70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Muito obrigado pela atenção.</a:t>
            </a:r>
          </a:p>
          <a:p>
            <a:pPr algn="l">
              <a:lnSpc>
                <a:spcPts val="8320"/>
              </a:lnSpc>
            </a:pPr>
            <a:endParaRPr lang="en-US" sz="10400" b="1" spc="-707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l">
              <a:lnSpc>
                <a:spcPts val="8320"/>
              </a:lnSpc>
            </a:pPr>
            <a:r>
              <a:rPr lang="en-US" sz="10400" b="1" spc="-70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Estamos à disposição para esclarecimentos e perguntas da banca.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312026"/>
            <a:chOff x="0" y="0"/>
            <a:chExt cx="4816593" cy="3455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345554"/>
            </a:xfrm>
            <a:custGeom>
              <a:avLst/>
              <a:gdLst/>
              <a:ahLst/>
              <a:cxnLst/>
              <a:rect l="l" t="t" r="r" b="b"/>
              <a:pathLst>
                <a:path w="4816592" h="345554">
                  <a:moveTo>
                    <a:pt x="0" y="0"/>
                  </a:moveTo>
                  <a:lnTo>
                    <a:pt x="4816592" y="0"/>
                  </a:lnTo>
                  <a:lnTo>
                    <a:pt x="4816592" y="345554"/>
                  </a:lnTo>
                  <a:lnTo>
                    <a:pt x="0" y="345554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383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02503" y="416000"/>
            <a:ext cx="154692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41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15 Jun, 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17679" y="544375"/>
            <a:ext cx="3086100" cy="464881"/>
            <a:chOff x="0" y="0"/>
            <a:chExt cx="812800" cy="1224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1173" y="570123"/>
            <a:ext cx="265911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1" spc="-41">
                <a:solidFill>
                  <a:srgbClr val="242424"/>
                </a:solidFill>
                <a:latin typeface="Aileron Bold"/>
                <a:ea typeface="Aileron Bold"/>
                <a:cs typeface="Aileron Bold"/>
                <a:sym typeface="Aileron Bold"/>
              </a:rPr>
              <a:t>Parcial do TCC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727</Words>
  <Application>Microsoft Office PowerPoint</Application>
  <PresentationFormat>Personalizar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Aileron Bold</vt:lpstr>
      <vt:lpstr>Calibri</vt:lpstr>
      <vt:lpstr>Canva Sans Bold</vt:lpstr>
      <vt:lpstr>Open Sans Bold</vt:lpstr>
      <vt:lpstr>Arial</vt:lpstr>
      <vt:lpstr>Aileron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Portfolio</dc:title>
  <dc:creator>EtecVAV</dc:creator>
  <cp:lastModifiedBy>EtecVAV</cp:lastModifiedBy>
  <cp:revision>3</cp:revision>
  <dcterms:created xsi:type="dcterms:W3CDTF">2006-08-16T00:00:00Z</dcterms:created>
  <dcterms:modified xsi:type="dcterms:W3CDTF">2026-06-15T11:00:09Z</dcterms:modified>
  <dc:identifier>DAHLDM-jW_I</dc:identifier>
</cp:coreProperties>
</file>